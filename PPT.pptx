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Cosmetics</c:v>
                </c:pt>
                <c:pt idx="1">
                  <c:v>Haircare</c:v>
                </c:pt>
                <c:pt idx="2">
                  <c:v>Skincare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161521</c:v>
                </c:pt>
                <c:pt idx="1">
                  <c:v>174455</c:v>
                </c:pt>
                <c:pt idx="2">
                  <c:v>241628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2B-4055-96B6-962E497FA1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Supplier 2</c:v>
                </c:pt>
                <c:pt idx="1">
                  <c:v>Supplier 1</c:v>
                </c:pt>
                <c:pt idx="2">
                  <c:v>Supplier 4</c:v>
                </c:pt>
                <c:pt idx="3">
                  <c:v>Supplier 5</c:v>
                </c:pt>
                <c:pt idx="4">
                  <c:v>Supplier 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14105</c:v>
                </c:pt>
                <c:pt idx="1">
                  <c:v>13545</c:v>
                </c:pt>
                <c:pt idx="2">
                  <c:v>11756</c:v>
                </c:pt>
                <c:pt idx="3">
                  <c:v>9381</c:v>
                </c:pt>
                <c:pt idx="4">
                  <c:v>7997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3B-4C96-B0E1-061DDD1DAD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%</c:v>
                </c:pt>
              </c:strCache>
            </c:strRef>
          </c:tx>
          <c:spPr>
            <a:solidFill>
              <a:srgbClr val="C1622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Supplier 5</c:v>
                </c:pt>
                <c:pt idx="1">
                  <c:v>Supplier 3</c:v>
                </c:pt>
                <c:pt idx="2">
                  <c:v>Supplier 2</c:v>
                </c:pt>
                <c:pt idx="3">
                  <c:v>Supplier 4</c:v>
                </c:pt>
                <c:pt idx="4">
                  <c:v>Supplier 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2.67</c:v>
                </c:pt>
                <c:pt idx="1">
                  <c:v>2.4700000000000002</c:v>
                </c:pt>
                <c:pt idx="2">
                  <c:v>2.36</c:v>
                </c:pt>
                <c:pt idx="3">
                  <c:v>2.34</c:v>
                </c:pt>
                <c:pt idx="4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D8-4A91-9A1A-BEC04569C8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Cost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\₹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Air</c:v>
                </c:pt>
                <c:pt idx="1">
                  <c:v>Road</c:v>
                </c:pt>
                <c:pt idx="2">
                  <c:v>Rail</c:v>
                </c:pt>
                <c:pt idx="3">
                  <c:v>Sea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6.02</c:v>
                </c:pt>
                <c:pt idx="1">
                  <c:v>5.54</c:v>
                </c:pt>
                <c:pt idx="2">
                  <c:v>5.47</c:v>
                </c:pt>
                <c:pt idx="3">
                  <c:v>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3-45DB-AB75-61DF65CD86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\₹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21A179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Cosmetics</c:v>
                </c:pt>
                <c:pt idx="1">
                  <c:v>Skincare</c:v>
                </c:pt>
                <c:pt idx="2">
                  <c:v>Haircare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99.16</c:v>
                </c:pt>
                <c:pt idx="1">
                  <c:v>98.66</c:v>
                </c:pt>
                <c:pt idx="2">
                  <c:v>98.57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94-4E68-9667-00949E21C6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8"/>
        </c:scaling>
        <c:delete val="0"/>
        <c:axPos val="b"/>
        <c:majorGridlines>
          <c:spPr>
            <a:ln w="12700" cap="flat">
              <a:solidFill>
                <a:srgbClr val="E5EA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95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ANALYSIS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Project — Data-Driven Insights across Inventory, Logistics, Suppliers &amp; Profitability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983480"/>
            <a:ext cx="2011680" cy="0"/>
          </a:xfrm>
          <a:prstGeom prst="line">
            <a:avLst/>
          </a:prstGeom>
          <a:noFill/>
          <a:ln w="38100">
            <a:solidFill>
              <a:srgbClr val="21A1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95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Abhiyuday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Sharma 12508368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Bhaveen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Kumar Tak 12506979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504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Mittal School of Business, Lovely Professional University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607040" y="5212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07040" y="5212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45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Business Problem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951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0449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5445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Architecture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2943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Dashboard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793992" y="15453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Supplier Analysis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72200" y="2350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93992" y="22951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Profitability Analysis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30998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722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793992" y="30449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72200" y="38496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7220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793992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Key Findings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172200" y="45994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7220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793992" y="45445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172200" y="5349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7220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793992" y="52943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Conclusion &amp; Future Scope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00800" cy="4572000"/>
          </a:xfrm>
          <a:prstGeom prst="roundRect">
            <a:avLst>
              <a:gd name="adj" fmla="val 1200"/>
            </a:avLst>
          </a:prstGeom>
          <a:solidFill>
            <a:srgbClr val="F4F8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5852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supply chains generate large volumes of data across procurement, production, inventory, logistics and sales — but this data is often scattered across spreadsheets and systems, making it hard to see the full picture.</a:t>
            </a:r>
            <a:endParaRPr lang="en-US" sz="14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consolidates a real-world style supply chain dataset into an interactive Power BI dashboard, allowing decision-makers to monitor performance and identify improvement areas at a glance.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business problem: how can a company track product performance, supplier reliability, logistics cost and profitability together, in one place, to make faster and better-informed decisions?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202996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supplier and logistics data tracked in silos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Insight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34472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slows down decision-making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4572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Inefficiencies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48646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suppliers or transport modes go unnoticed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Data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15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product, supplier, inventory and logistics data into a single unified model.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715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revenue, sales volume and profitability across product categories.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Suppliers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15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suppliers on production volume, defect rate and lead time.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Logistics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9560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cost-efficient transportation modes and routes.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84048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805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Quality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9560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defect and inspection patterns to strengthen quality control.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83880" y="384048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21040" y="3977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Decisions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9560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analysis into clear, actionable business recommendations.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2706624"/>
            <a:ext cx="177393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(SKUs)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61488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0" y="2706624"/>
            <a:ext cx="1773936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98648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record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74336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38928" y="2706624"/>
            <a:ext cx="177393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11496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111496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87184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51776" y="2706624"/>
            <a:ext cx="1773936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24344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24344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Tracked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00032" y="16002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64624" y="2706624"/>
            <a:ext cx="177393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37192" y="1737360"/>
            <a:ext cx="18288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537192" y="233720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Modes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 Captured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3575304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4015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type, SKU, Price, Availability, Revenue generated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4197096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023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Production: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name, Location, Production volume, Manufacturing cost/lead time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4818888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46451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Quality: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Order quantities, Inspection results, Defect rates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94360" y="5440680"/>
            <a:ext cx="109728" cy="10972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526694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times/costs/carriers, Transportation mode, Routes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306324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0B25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122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37033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 Types: skincare, haircare, cosmetics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414223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Suppliers: Supplier 1 – Supplier 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45811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Transport Modes: Road, Rail, Air, Sea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12280" y="50200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Inspection Results: Pass, Fail, Pending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545896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Derived fields added: Profit Margin, Revenue Category, Shipping Efficiency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(CSV)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supply chain dataset with 100 SKU-level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5400000">
            <a:off x="2596896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8" name="Shape 6"/>
          <p:cNvSpPr/>
          <p:nvPr/>
        </p:nvSpPr>
        <p:spPr>
          <a:xfrm>
            <a:off x="2807208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1C7293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07208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916936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16936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renamed and validated columns; handled data types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rot="5400000">
            <a:off x="4855464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65776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065776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fields into product, supplier and logistics dimensions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5400000">
            <a:off x="7114032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18" name="Shape 16"/>
          <p:cNvSpPr/>
          <p:nvPr/>
        </p:nvSpPr>
        <p:spPr>
          <a:xfrm>
            <a:off x="7324344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1C7293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24344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2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KPIs — Profit Margin, Revenue Category, Shipping Efficiency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rot="5400000">
            <a:off x="9372600" y="2889504"/>
            <a:ext cx="164592" cy="164592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23" name="Shape 21"/>
          <p:cNvSpPr/>
          <p:nvPr/>
        </p:nvSpPr>
        <p:spPr>
          <a:xfrm>
            <a:off x="9582912" y="1828800"/>
            <a:ext cx="2029968" cy="2286000"/>
          </a:xfrm>
          <a:prstGeom prst="roundRect">
            <a:avLst>
              <a:gd name="adj" fmla="val 3604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582912" y="1965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25146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4-page interactive dashboard with slicers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9560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   •   Power Query Editor   •   DAX (Data Analysis Expressions)   •   Excel/CSV data source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623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inconsistent entries, standardised column names, verified numeric ranges for costs/rates, and engineered new calculated columns (Profit Margin, Revenue Category, Shipping Efficiency) to support deeper analysis.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4-page interactive Power BI 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3162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316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KPIs: revenue, units sold, shipping cost, defect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5848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14" name="Shape 12"/>
          <p:cNvSpPr/>
          <p:nvPr/>
        </p:nvSpPr>
        <p:spPr>
          <a:xfrm>
            <a:off x="3355848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55848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38828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3882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493008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Supplier Analysis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38728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production volumes, defect and inspection breakdowns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22" name="Shape 20"/>
          <p:cNvSpPr/>
          <p:nvPr/>
        </p:nvSpPr>
        <p:spPr>
          <a:xfrm>
            <a:off x="6163056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63056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46036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4603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300216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Profitability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345936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cost/time by mode, profit margin, supplier lead times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70264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70264" y="16916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30" name="Shape 28"/>
          <p:cNvSpPr/>
          <p:nvPr/>
        </p:nvSpPr>
        <p:spPr>
          <a:xfrm>
            <a:off x="8970264" y="2148840"/>
            <a:ext cx="260604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70264" y="1801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53244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95324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107424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153144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takeaways and action items for each area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Interactivity:  </a:t>
            </a: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shares synchronized slicers — Product Type, Supplier Name, Transportation Mode and Inspection Result — letting users filter the entire report from any page.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2_1_Executiv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company-wide performance snapshot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 — KPIs &amp;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2569464"/>
            <a:ext cx="227685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₹577.60K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56432" y="2569464"/>
            <a:ext cx="2276856" cy="54864"/>
          </a:xfrm>
          <a:prstGeom prst="rect">
            <a:avLst/>
          </a:prstGeom>
          <a:solidFill>
            <a:srgbClr val="21A1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 Sold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2569464"/>
            <a:ext cx="2276856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₹5.55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Shipping Cost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782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42832" y="2569464"/>
            <a:ext cx="2276856" cy="54864"/>
          </a:xfrm>
          <a:prstGeom prst="rect">
            <a:avLst/>
          </a:prstGeom>
          <a:solidFill>
            <a:srgbClr val="21A1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15400" y="1737360"/>
            <a:ext cx="23317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2.28%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252167"/>
            <a:ext cx="2331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Defect Rate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Type</a:t>
            </a:r>
            <a:endParaRPr lang="en-US" sz="14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57200" y="324612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6400800" y="288036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4F8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62940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656832" y="349300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58000" y="33558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is the top-performing category, generating ₹0.24M — nearly 42% of total revenue.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656832" y="425196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58000" y="41148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transport has the highest average shipping cost (₹6.02) versus Sea, the cheapest (₹4.97).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656832" y="501091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858000" y="487375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products show the highest average defect rate (2.48%), warranting quality review.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656832" y="576986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0" y="563270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sold 46K units across all categories with only a 2.28% average defect rate overall.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Supplier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3_2_Inventory_Supplier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stock, production and supplier quality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Supplier — 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Volume by Supplier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920240"/>
          <a:ext cx="55778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Defect Rate by Supplier</a:t>
            </a:r>
            <a:endParaRPr lang="en-US" sz="135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57200" y="4572000"/>
          <a:ext cx="557784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160020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4F8F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62940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656832" y="220370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0" y="206654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2 leads production volume (14.1K units), followed closely by Supplier 1 (13.5K).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656832" y="290779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858000" y="277063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5 has the highest defect rate (2.67%) despite moderate output — a quality risk.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656832" y="361188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8000" y="34747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combines strong output with the lowest defect rate (1.80%) — the most reliable partner.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56832" y="431596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58000" y="417880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Haircare holds the highest stock level (1,644 units), needing careful inventory planning.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656832" y="5020056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0" y="488289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carries the highest manufacturing cost per unit (₹48.99), impacting margins.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656832" y="572414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58000" y="558698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inventory stands at 4,777 units across 57K units of total production volume.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Profitability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4_3_Logistics_Profitability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shipping cost, time and margin analysis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Profitability — 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Shipping Cost by Transport Mode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920240"/>
          <a:ext cx="55778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Profit Margin by Product Type</a:t>
            </a:r>
            <a:endParaRPr lang="en-US" sz="135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57200" y="4480560"/>
          <a:ext cx="55778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160020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4F8F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62940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656832" y="220370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0" y="206654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freight is the costliest mode (₹6.02/unit); Sea is the most economical (₹4.97/unit).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656832" y="290779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858000" y="277063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delivers the highest profit margin (99.16%), just ahead of skincare and haircare.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656832" y="361188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58000" y="34747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3 has the longest average lead time (20.13 days) — a potential bottleneck.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56832" y="431596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58000" y="417880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offers the shortest lead time (14.78 days), supporting faster replenishment.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656832" y="5020056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0" y="488289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products have the longest average shipping time among the three categories.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656832" y="572414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58000" y="558698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logistics cost across the business is ₹52.92K, with an overall 98.76% profit margin.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5257800"/>
          </a:xfrm>
          <a:prstGeom prst="roundRect">
            <a:avLst>
              <a:gd name="adj" fmla="val 522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images/1787957505365_4_Business_Ins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44168"/>
            <a:ext cx="11055096" cy="5038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consolidated takeaways by area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Key Findings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takeaway from each dashboard page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Product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Skincare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Supplier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Stock Category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Haircare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Margin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Cosmetics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29768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657600"/>
            <a:ext cx="640080" cy="6400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056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Costliest Transport Mode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(₹6.02/unit)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046720" y="32918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657600"/>
            <a:ext cx="640080" cy="6400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Supplier Lead Time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3 (20.13 days)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7424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1A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and Supplier 1 drive the business, but haircare quality, Air freight cost and Supplier 3's lead time are the clearest areas for improvement.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91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0432" y="16824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promotional spend on skincare — the strongest revenue driver.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demand drivers behind Supplier 1's revenue leadership.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691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162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93992" y="16824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2128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inspection and QC protocols for Supplier 5 (highest defect rate).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causes of defects in haircare production specifically.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42062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0432" y="41970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274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haircare stock allocation to avoid overstocking vs. demand.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skincare manufacturing costs to protect margins.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40690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1A2733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42062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1A1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93992" y="41970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Profitability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72744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more volume to Sea/Rail where transit time allows, to cut cost.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Supplier 3 to shorten lead time or diversify sourcing.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and promote high-margin categories like cosmetics.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9164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36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842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100 SKU-level records, limiting statistical depth.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540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dimension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0156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 single snapshot — seasonality and trends can't be analysed.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452628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471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figures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81888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margin and defect values appear synthetic rather than audited financials.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69164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636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customer-level detail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98424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broad demographics, individual customer behaviour isn't captured.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10896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0540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geographic depth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40156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locations are recorded but regional cost drivers aren't broken out.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526280"/>
            <a:ext cx="411480" cy="41148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471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Power BI file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81888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not connected to a live/refreshing data source.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8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dashboard turns raw supply chain data into a clear, interactive story — showing that skincare and Supplier 1 lead performance, while haircare quality and Air freight costs are the key levers for improvement.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revenue, inventory, supplier and logistics metrics on one screen, the project demonstrates how business intelligence can shorten the path from raw data to actionable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422392" cy="4480560"/>
          </a:xfrm>
          <a:prstGeom prst="roundRect">
            <a:avLst>
              <a:gd name="adj" fmla="val 1633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2340864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93408" y="21945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dashboard to a live/refreshing data source for real-time monitoring.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3090672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3408" y="294436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predictive analytics (e.g. demand or defect forecasting) using Power BI + AI visuals.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840480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93408" y="369417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dataset with a longer time period to analyse seasonal trends.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4590288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93408" y="44439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drill-through pages for SKU-level and route-level deep dives.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5340096"/>
            <a:ext cx="91440" cy="91440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3408" y="519379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customer feedback data to link satisfaction with supply chain performance.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Analysis — Power BI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367528" y="4023360"/>
            <a:ext cx="1463040" cy="0"/>
          </a:xfrm>
          <a:prstGeom prst="line">
            <a:avLst/>
          </a:prstGeom>
          <a:noFill/>
          <a:ln w="38100">
            <a:solidFill>
              <a:srgbClr val="21A1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Abhiyuday Sharma | </a:t>
            </a:r>
            <a:r>
              <a:rPr lang="en-US" sz="1300" dirty="0" err="1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Bhaveen</a:t>
            </a:r>
            <a:r>
              <a:rPr lang="en-US" sz="130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Kumar Tak </a:t>
            </a:r>
            <a:r>
              <a:rPr lang="en-US" sz="13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Mittal School of Business, LPU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1681</Words>
  <Application>Microsoft Office PowerPoint</Application>
  <PresentationFormat>Widescreen</PresentationFormat>
  <Paragraphs>287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Aisha Singh</cp:lastModifiedBy>
  <cp:revision>2</cp:revision>
  <dcterms:created xsi:type="dcterms:W3CDTF">2026-08-28T23:04:02Z</dcterms:created>
  <dcterms:modified xsi:type="dcterms:W3CDTF">2026-08-29T05:35:23Z</dcterms:modified>
</cp:coreProperties>
</file>